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658368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400" b="1">
                <a:solidFill>
                  <a:srgbClr val="5FBEEB"/>
                </a:solidFill>
                <a:latin typeface="Aptos"/>
              </a:defRPr>
            </a:pPr>
            <a:r>
              <a:t>RANGKUMAN MATERI • BAB 1–6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6583680" cy="16002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PEMROGRAMAN\nMOBILE ANDROID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46120"/>
            <a:ext cx="6126480" cy="594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400" b="1">
                <a:solidFill>
                  <a:srgbClr val="5FBEEB"/>
                </a:solidFill>
                <a:latin typeface="Aptos"/>
              </a:defRPr>
            </a:pPr>
            <a:r>
              <a:t>Dengan 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983480"/>
            <a:ext cx="61264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Disusun oleh: Diva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76672"/>
            <a:ext cx="6126480" cy="2743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4CDE1"/>
                </a:solidFill>
                <a:latin typeface="Aptos"/>
              </a:defRPr>
            </a:pPr>
            <a:r>
              <a:t>Program Studi Sistem Informasi</a:t>
            </a:r>
          </a:p>
        </p:txBody>
      </p:sp>
      <p:pic>
        <p:nvPicPr>
          <p:cNvPr id="8" name="Picture 7" descr="mobile_crop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02920"/>
            <a:ext cx="4206240" cy="5669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6263640"/>
            <a:ext cx="1005840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000" b="0">
                <a:solidFill>
                  <a:srgbClr val="B4CDE1"/>
                </a:solidFill>
                <a:latin typeface="Aptos"/>
              </a:defRPr>
            </a:pPr>
            <a:r>
              <a:t>Materi berdasarkan modul Erma Susanti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100" b="1">
                <a:solidFill>
                  <a:srgbClr val="5FBEEB"/>
                </a:solidFill>
                <a:latin typeface="Aptos"/>
              </a:defRPr>
            </a:pPr>
            <a:r>
              <a:t>PETA MATERI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Enam fondasi pengembangan aplikasi Android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07008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4CDE1"/>
                </a:solidFill>
                <a:latin typeface="Aptos"/>
              </a:defRPr>
            </a:pPr>
            <a:r>
              <a:t>Alur pembelajaran dari dasar hingga integrasi cloud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681228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01168"/>
          <a:lstStyle/>
          <a:p>
            <a:pPr algn="ctr"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Bab 1 — Pengenalan Android dan lingkungan pengembangan.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Bab 2 — Komponen dasar: Activity, Intent, dan Fragment.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Bab 3 — UI/UX: membangun antarmuka dan daftar data.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Bab 4 — Background Task: alarm, penjadwalan, dan notifikasi.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Bab 5 — Penyimpanan data internal dan eksternal.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Bab 6 — Firebase sebagai penyimpanan data berbasis cloud.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91640"/>
            <a:ext cx="4041648" cy="4617720"/>
          </a:xfrm>
          <a:prstGeom prst="roundRect">
            <a:avLst/>
          </a:prstGeom>
          <a:solidFill>
            <a:srgbClr val="0D3153"/>
          </a:solidFill>
          <a:ln>
            <a:solidFill>
              <a:srgbClr val="29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_cro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74519"/>
            <a:ext cx="3675887" cy="422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0">
                <a:solidFill>
                  <a:srgbClr val="B4CDE1"/>
                </a:solidFill>
                <a:latin typeface="Aptos"/>
              </a:defRPr>
            </a:pPr>
            <a:r>
              <a:t>PEMROGRAMAN MOBILE ANDROID DENGAN JAVA  •  RANGKUMAN BAB 1–6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100" b="1">
                <a:solidFill>
                  <a:srgbClr val="5FBEEB"/>
                </a:solidFill>
                <a:latin typeface="Aptos"/>
              </a:defRPr>
            </a:pPr>
            <a:r>
              <a:t>BAB 1 • PENGENALAN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Dasar platform dan pengembangan Android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07008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4CDE1"/>
                </a:solidFill>
                <a:latin typeface="Aptos"/>
              </a:defRPr>
            </a:pPr>
            <a:r>
              <a:t>Fokus: mengenali tools, struktur proyek, dan proses membuat aplikasi pertama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681228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01168"/>
          <a:lstStyle/>
          <a:p>
            <a:pPr algn="ctr"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Android merupakan platform sistem operasi mobile berbasis Linux untuk menjalankan aplikasi pada perangkat bergerak.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Bahasa yang dibahas dalam modul adalah Java; modul juga menyebut C/C++, Go, dan Kotlin.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Lingkungan pengembangan mencakup JDK, Android Studio sebagai IDE, serta Android SDK untuk build, testing, dan debugging.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Struktur proyek meliputi AndroidManifest.xml, source code pada folder java, resource pada res, dan konfigurasi Gradle.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Tantangan pengembangan: variasi ukuran layar, performa, keamanan data, kompatibilitas versi, dan kebutuhan pengguna.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91640"/>
            <a:ext cx="4041648" cy="4617720"/>
          </a:xfrm>
          <a:prstGeom prst="roundRect">
            <a:avLst/>
          </a:prstGeom>
          <a:solidFill>
            <a:srgbClr val="0D3153"/>
          </a:solidFill>
          <a:ln>
            <a:solidFill>
              <a:srgbClr val="29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_cro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74519"/>
            <a:ext cx="3675887" cy="422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0">
                <a:solidFill>
                  <a:srgbClr val="B4CDE1"/>
                </a:solidFill>
                <a:latin typeface="Aptos"/>
              </a:defRPr>
            </a:pPr>
            <a:r>
              <a:t>PEMROGRAMAN MOBILE ANDROID DENGAN JAVA  •  RANGKUMAN BAB 1–6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100" b="1">
                <a:solidFill>
                  <a:srgbClr val="5FBEEB"/>
                </a:solidFill>
                <a:latin typeface="Aptos"/>
              </a:defRPr>
            </a:pPr>
            <a:r>
              <a:t>BAB 1 • PRAKTIK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Alur membuat project Android pertama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07008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4CDE1"/>
                </a:solidFill>
                <a:latin typeface="Aptos"/>
              </a:defRPr>
            </a:pPr>
            <a:r>
              <a:t>Struktur proyek menjadi dasar untuk memahami bab berikutnya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681228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01168"/>
          <a:lstStyle/>
          <a:p>
            <a:pPr algn="ctr"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Siapkan JDK dan instal Android Studio sesuai sistem operasi komputer.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Buat project baru melalui template yang tersedia dan tentukan nama serta package aplikasi.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Kenali file penting: Manifest untuk deklarasi aplikasi, Java untuk logika, res untuk layout/gambar/string, dan Gradle untuk build.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Jalankan aplikasi melalui emulator atau perangkat Android yang terhubung.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Lakukan proses run, debug, test, dan package untuk memeriksa hasil pengembangan.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91640"/>
            <a:ext cx="4041648" cy="4617720"/>
          </a:xfrm>
          <a:prstGeom prst="roundRect">
            <a:avLst/>
          </a:prstGeom>
          <a:solidFill>
            <a:srgbClr val="0D3153"/>
          </a:solidFill>
          <a:ln>
            <a:solidFill>
              <a:srgbClr val="29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32520" y="1965960"/>
            <a:ext cx="1874519" cy="3977639"/>
          </a:xfrm>
          <a:prstGeom prst="roundRect">
            <a:avLst/>
          </a:prstGeom>
          <a:solidFill>
            <a:srgbClr val="050C17"/>
          </a:solidFill>
          <a:ln>
            <a:solidFill>
              <a:srgbClr val="6E9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51392" y="2212848"/>
            <a:ext cx="1636776" cy="3493008"/>
          </a:xfrm>
          <a:prstGeom prst="roundRect">
            <a:avLst/>
          </a:prstGeom>
          <a:solidFill>
            <a:srgbClr val="E2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8552" y="2423160"/>
            <a:ext cx="137160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081C37"/>
                </a:solidFill>
                <a:latin typeface="Aptos"/>
              </a:defRPr>
            </a:pPr>
            <a:r>
              <a:t>ANDROID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3017520"/>
            <a:ext cx="1325880" cy="438912"/>
          </a:xfrm>
          <a:prstGeom prst="roundRect">
            <a:avLst/>
          </a:prstGeom>
          <a:solidFill>
            <a:srgbClr val="29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61704" y="3090672"/>
            <a:ext cx="118872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3675887"/>
            <a:ext cx="1325880" cy="438912"/>
          </a:xfrm>
          <a:prstGeom prst="roundRect">
            <a:avLst/>
          </a:prstGeom>
          <a:solidFill>
            <a:srgbClr val="29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1704" y="3749039"/>
            <a:ext cx="118872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4334256"/>
            <a:ext cx="1325880" cy="438912"/>
          </a:xfrm>
          <a:prstGeom prst="roundRect">
            <a:avLst/>
          </a:prstGeom>
          <a:solidFill>
            <a:srgbClr val="29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1704" y="4407408"/>
            <a:ext cx="118872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Aktivitas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0">
                <a:solidFill>
                  <a:srgbClr val="B4CDE1"/>
                </a:solidFill>
                <a:latin typeface="Aptos"/>
              </a:defRPr>
            </a:pPr>
            <a:r>
              <a:t>PEMROGRAMAN MOBILE ANDROID DENGAN JAVA  •  RANGKUMAN BAB 1–6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100" b="1">
                <a:solidFill>
                  <a:srgbClr val="5FBEEB"/>
                </a:solidFill>
                <a:latin typeface="Aptos"/>
              </a:defRPr>
            </a:pPr>
            <a:r>
              <a:t>BAB 2 • KOMPONEN DASAR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Activity, Intent, dan Fragment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07008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4CDE1"/>
                </a:solidFill>
                <a:latin typeface="Aptos"/>
              </a:defRPr>
            </a:pPr>
            <a:r>
              <a:t>Komponen inti untuk mengatur layar dan alur navigasi aplikasi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681228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01168"/>
          <a:lstStyle/>
          <a:p>
            <a:pPr algn="ctr"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Activity adalah komponen yang merepresentasikan layar atau window aplikasi dan menangani interaksi pengguna.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Activity memiliki lifecycle: onCreate, onStart, onResume, onPause, onStop, onRestart, dan onDestroy.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Intent menjadi mekanisme komunikasi atau perpindahan antar-komponen aplikasi.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Explicit Intent menunjuk komponen tujuan secara spesifik; Implicit Intent menyatakan aksi yang dapat ditangani aplikasi lain.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Fragment adalah bagian UI yang dapat ditempatkan di dalam Activity dan memiliki lifecycle sendiri.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91640"/>
            <a:ext cx="4041648" cy="4617720"/>
          </a:xfrm>
          <a:prstGeom prst="roundRect">
            <a:avLst/>
          </a:prstGeom>
          <a:solidFill>
            <a:srgbClr val="0D3153"/>
          </a:solidFill>
          <a:ln>
            <a:solidFill>
              <a:srgbClr val="29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_crop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74519"/>
            <a:ext cx="3675887" cy="422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0">
                <a:solidFill>
                  <a:srgbClr val="B4CDE1"/>
                </a:solidFill>
                <a:latin typeface="Aptos"/>
              </a:defRPr>
            </a:pPr>
            <a:r>
              <a:t>PEMROGRAMAN MOBILE ANDROID DENGAN JAVA  •  RANGKUMAN BAB 1–6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100" b="1">
                <a:solidFill>
                  <a:srgbClr val="5FBEEB"/>
                </a:solidFill>
                <a:latin typeface="Aptos"/>
              </a:defRPr>
            </a:pPr>
            <a:r>
              <a:t>BAB 2 • KOMUNIKASI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Perpindahan layar dan pengiriman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07008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4CDE1"/>
                </a:solidFill>
                <a:latin typeface="Aptos"/>
              </a:defRPr>
            </a:pPr>
            <a:r>
              <a:t>Contoh penerapan: mengirim pesan atau nilai input dari satu layar ke layar lain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681228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01168"/>
          <a:lstStyle/>
          <a:p>
            <a:pPr algn="ctr"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Explicit Intent digunakan untuk membuka Activity tertentu, misalnya MainActivity menuju SecondActivity.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Implicit Intent digunakan untuk aksi umum seperti membuka halaman web atau menampilkan dial telepon.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Data dapat dikirim melalui URI atau extras berbentuk pasangan key-value dalam Bundle.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Activity pengirim membuat Intent, menambahkan data dengan putExtra()/putExtras(), lalu memanggil startActivity().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Activity penerima mengambil data dari Intent menggunakan getIntent() dan method pengambil data yang sesuai.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91640"/>
            <a:ext cx="4041648" cy="4617720"/>
          </a:xfrm>
          <a:prstGeom prst="roundRect">
            <a:avLst/>
          </a:prstGeom>
          <a:solidFill>
            <a:srgbClr val="0D3153"/>
          </a:solidFill>
          <a:ln>
            <a:solidFill>
              <a:srgbClr val="29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32520" y="1965960"/>
            <a:ext cx="1874519" cy="3977639"/>
          </a:xfrm>
          <a:prstGeom prst="roundRect">
            <a:avLst/>
          </a:prstGeom>
          <a:solidFill>
            <a:srgbClr val="050C17"/>
          </a:solidFill>
          <a:ln>
            <a:solidFill>
              <a:srgbClr val="6E9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51392" y="2212848"/>
            <a:ext cx="1636776" cy="3493008"/>
          </a:xfrm>
          <a:prstGeom prst="roundRect">
            <a:avLst/>
          </a:prstGeom>
          <a:solidFill>
            <a:srgbClr val="E2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8552" y="2423160"/>
            <a:ext cx="137160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081C37"/>
                </a:solidFill>
                <a:latin typeface="Aptos"/>
              </a:defRPr>
            </a:pPr>
            <a:r>
              <a:t>ANDROID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3017520"/>
            <a:ext cx="1325880" cy="438912"/>
          </a:xfrm>
          <a:prstGeom prst="roundRect">
            <a:avLst/>
          </a:prstGeom>
          <a:solidFill>
            <a:srgbClr val="29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61704" y="3090672"/>
            <a:ext cx="118872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3675887"/>
            <a:ext cx="1325880" cy="438912"/>
          </a:xfrm>
          <a:prstGeom prst="roundRect">
            <a:avLst/>
          </a:prstGeom>
          <a:solidFill>
            <a:srgbClr val="29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1704" y="3749039"/>
            <a:ext cx="118872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4334256"/>
            <a:ext cx="1325880" cy="438912"/>
          </a:xfrm>
          <a:prstGeom prst="roundRect">
            <a:avLst/>
          </a:prstGeom>
          <a:solidFill>
            <a:srgbClr val="29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1704" y="4407408"/>
            <a:ext cx="118872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Aktivitas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0">
                <a:solidFill>
                  <a:srgbClr val="B4CDE1"/>
                </a:solidFill>
                <a:latin typeface="Aptos"/>
              </a:defRPr>
            </a:pPr>
            <a:r>
              <a:t>PEMROGRAMAN MOBILE ANDROID DENGAN JAVA  •  RANGKUMAN BAB 1–6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100" b="1">
                <a:solidFill>
                  <a:srgbClr val="5FBEEB"/>
                </a:solidFill>
                <a:latin typeface="Aptos"/>
              </a:defRPr>
            </a:pPr>
            <a:r>
              <a:t>BAB 3 • UI/UX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Antarmuka dan pengalaman pengguna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07008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4CDE1"/>
                </a:solidFill>
                <a:latin typeface="Aptos"/>
              </a:defRPr>
            </a:pPr>
            <a:r>
              <a:t>Desain bukan hanya menarik, tetapi juga mudah digunakan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681228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01168"/>
          <a:lstStyle/>
          <a:p>
            <a:pPr algn="ctr"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UI (User Interface) adalah tampilan dan komponen visual yang digunakan pengguna untuk berinteraksi.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UX (User Experience) berfokus pada pengalaman penggunaan yang mudah dipahami, nyaman, dan konsisten.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Komponen UI pada modul antara lain View, ViewGroup, Button, TextView, EditText, ImageView, dan layout.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Pemilihan layout dan penempatan komponen perlu memperhatikan ukuran layar serta keterbacaan.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UI yang baik membantu pengguna menyelesaikan tugas aplikasi secara efisien.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91640"/>
            <a:ext cx="4041648" cy="4617720"/>
          </a:xfrm>
          <a:prstGeom prst="roundRect">
            <a:avLst/>
          </a:prstGeom>
          <a:solidFill>
            <a:srgbClr val="0D3153"/>
          </a:solidFill>
          <a:ln>
            <a:solidFill>
              <a:srgbClr val="29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_crop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74519"/>
            <a:ext cx="3675887" cy="422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0">
                <a:solidFill>
                  <a:srgbClr val="B4CDE1"/>
                </a:solidFill>
                <a:latin typeface="Aptos"/>
              </a:defRPr>
            </a:pPr>
            <a:r>
              <a:t>PEMROGRAMAN MOBILE ANDROID DENGAN JAVA  •  RANGKUMAN BAB 1–6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100" b="1">
                <a:solidFill>
                  <a:srgbClr val="5FBEEB"/>
                </a:solidFill>
                <a:latin typeface="Aptos"/>
              </a:defRPr>
            </a:pPr>
            <a:r>
              <a:t>BAB 3 • KOMPONEN DAFTAR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ListView dan RecyclerView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07008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4CDE1"/>
                </a:solidFill>
                <a:latin typeface="Aptos"/>
              </a:defRPr>
            </a:pPr>
            <a:r>
              <a:t>Contoh modul: aplikasi katalog buku dengan item gambar dan deskripsi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681228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01168"/>
          <a:lstStyle/>
          <a:p>
            <a:pPr algn="ctr"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ListView menampilkan kumpulan item dalam bentuk daftar vertikal.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RecyclerView digunakan untuk menampilkan kumpulan data dengan pola item yang dapat digunakan ulang.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Data biasanya disiapkan dalam koleksi, kemudian dihubungkan ke tampilan melalui Adapter.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Setiap item dapat berisi gambar dan teks, misalnya judul buku, penulis, serta deskripsi.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RecyclerView cocok untuk daftar yang dinamis dan membantu efisiensi penggunaan tampilan.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91640"/>
            <a:ext cx="4041648" cy="4617720"/>
          </a:xfrm>
          <a:prstGeom prst="roundRect">
            <a:avLst/>
          </a:prstGeom>
          <a:solidFill>
            <a:srgbClr val="0D3153"/>
          </a:solidFill>
          <a:ln>
            <a:solidFill>
              <a:srgbClr val="29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_crop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74519"/>
            <a:ext cx="3675887" cy="422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0">
                <a:solidFill>
                  <a:srgbClr val="B4CDE1"/>
                </a:solidFill>
                <a:latin typeface="Aptos"/>
              </a:defRPr>
            </a:pPr>
            <a:r>
              <a:t>PEMROGRAMAN MOBILE ANDROID DENGAN JAVA  •  RANGKUMAN BAB 1–6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100" b="1">
                <a:solidFill>
                  <a:srgbClr val="5FBEEB"/>
                </a:solidFill>
                <a:latin typeface="Aptos"/>
              </a:defRPr>
            </a:pPr>
            <a:r>
              <a:t>BAB 4 • BACKGROUND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Menjalankan pekerjaan di luar interaksi layar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07008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4CDE1"/>
                </a:solidFill>
                <a:latin typeface="Aptos"/>
              </a:defRPr>
            </a:pPr>
            <a:r>
              <a:t>Contoh penggunaan: pengingat jadwal dan proses terjadwal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681228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01168"/>
          <a:lstStyle/>
          <a:p>
            <a:pPr algn="ctr"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Background task adalah pekerjaan aplikasi yang dijalankan tanpa harus terus-menerus berada di layar utama.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AlarmManager menjadwalkan Intent berdasarkan waktu atau interval tertentu.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AlarmManager dapat bekerja bersama BroadcastReceiver dan tetap memicu aksi ketika aplikasi tidak sedang aktif.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Penjadwalan perlu mempertimbangkan frekuensi agar tidak boros baterai dan sumber daya.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JobScheduler menjalankan pekerjaan berdasarkan kondisi tertentu sehingga proses terjadwal lebih efisien.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91640"/>
            <a:ext cx="4041648" cy="4617720"/>
          </a:xfrm>
          <a:prstGeom prst="roundRect">
            <a:avLst/>
          </a:prstGeom>
          <a:solidFill>
            <a:srgbClr val="0D3153"/>
          </a:solidFill>
          <a:ln>
            <a:solidFill>
              <a:srgbClr val="29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_crop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74519"/>
            <a:ext cx="3675887" cy="422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0">
                <a:solidFill>
                  <a:srgbClr val="B4CDE1"/>
                </a:solidFill>
                <a:latin typeface="Aptos"/>
              </a:defRPr>
            </a:pPr>
            <a:r>
              <a:t>PEMROGRAMAN MOBILE ANDROID DENGAN JAVA  •  RANGKUMAN BAB 1–6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100" b="1">
                <a:solidFill>
                  <a:srgbClr val="5FBEEB"/>
                </a:solidFill>
                <a:latin typeface="Aptos"/>
              </a:defRPr>
            </a:pPr>
            <a:r>
              <a:t>BAB 4 • NOTIFIKASI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Memberikan informasi kepada pengguna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07008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4CDE1"/>
                </a:solidFill>
                <a:latin typeface="Aptos"/>
              </a:defRPr>
            </a:pPr>
            <a:r>
              <a:t>Notifikasi perlu ringkas, relevan, dan dapat ditindaklanjuti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681228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01168"/>
          <a:lstStyle/>
          <a:p>
            <a:pPr algn="ctr"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Notification menyampaikan informasi atau pengingat dari aplikasi kepada pengguna.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NotificationManager digunakan untuk mengelola dan menampilkan notifikasi.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NotificationChannel mengelompokkan notifikasi pada Android versi yang mendukung channel.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NotificationCompat.Builder membantu menyusun judul, isi, ikon, prioritas, dan aksi notifikasi.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PendingIntent dapat menghubungkan notifikasi dengan Activity yang dibuka saat notifikasi disentuh.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91640"/>
            <a:ext cx="4041648" cy="4617720"/>
          </a:xfrm>
          <a:prstGeom prst="roundRect">
            <a:avLst/>
          </a:prstGeom>
          <a:solidFill>
            <a:srgbClr val="0D3153"/>
          </a:solidFill>
          <a:ln>
            <a:solidFill>
              <a:srgbClr val="29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32520" y="1965960"/>
            <a:ext cx="1874519" cy="3977639"/>
          </a:xfrm>
          <a:prstGeom prst="roundRect">
            <a:avLst/>
          </a:prstGeom>
          <a:solidFill>
            <a:srgbClr val="050C17"/>
          </a:solidFill>
          <a:ln>
            <a:solidFill>
              <a:srgbClr val="6E9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51392" y="2212848"/>
            <a:ext cx="1636776" cy="3493008"/>
          </a:xfrm>
          <a:prstGeom prst="roundRect">
            <a:avLst/>
          </a:prstGeom>
          <a:solidFill>
            <a:srgbClr val="E2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8552" y="2423160"/>
            <a:ext cx="137160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081C37"/>
                </a:solidFill>
                <a:latin typeface="Aptos"/>
              </a:defRPr>
            </a:pPr>
            <a:r>
              <a:t>ANDROID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3017520"/>
            <a:ext cx="1325880" cy="438912"/>
          </a:xfrm>
          <a:prstGeom prst="roundRect">
            <a:avLst/>
          </a:prstGeom>
          <a:solidFill>
            <a:srgbClr val="29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61704" y="3090672"/>
            <a:ext cx="118872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3675887"/>
            <a:ext cx="1325880" cy="438912"/>
          </a:xfrm>
          <a:prstGeom prst="roundRect">
            <a:avLst/>
          </a:prstGeom>
          <a:solidFill>
            <a:srgbClr val="29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1704" y="3749039"/>
            <a:ext cx="118872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4334256"/>
            <a:ext cx="1325880" cy="438912"/>
          </a:xfrm>
          <a:prstGeom prst="roundRect">
            <a:avLst/>
          </a:prstGeom>
          <a:solidFill>
            <a:srgbClr val="29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1704" y="4407408"/>
            <a:ext cx="118872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Aktivitas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0">
                <a:solidFill>
                  <a:srgbClr val="B4CDE1"/>
                </a:solidFill>
                <a:latin typeface="Aptos"/>
              </a:defRPr>
            </a:pPr>
            <a:r>
              <a:t>PEMROGRAMAN MOBILE ANDROID DENGAN JAVA  •  RANGKUMAN BAB 1–6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100" b="1">
                <a:solidFill>
                  <a:srgbClr val="5FBEEB"/>
                </a:solidFill>
                <a:latin typeface="Aptos"/>
              </a:defRPr>
            </a:pPr>
            <a:r>
              <a:t>BAB 5 • PENYIMPANAN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Penyimpanan internal dan eksternal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07008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4CDE1"/>
                </a:solidFill>
                <a:latin typeface="Aptos"/>
              </a:defRPr>
            </a:pPr>
            <a:r>
              <a:t>Pilih mekanisme penyimpanan sesuai karakter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681228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01168"/>
          <a:lstStyle/>
          <a:p>
            <a:pPr algn="ctr"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Penyimpanan data memungkinkan aplikasi mempertahankan informasi agar dapat digunakan kembali.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SharedPreferences menyimpan data sederhana berbentuk key-value, misalnya nama atau umur pengguna.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Internal Storage menyimpan file privat aplikasi dan umumnya dihapus ketika aplikasi di-uninstall.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External Storage digunakan untuk file yang ditempatkan pada penyimpanan eksternal; aksesnya memperhatikan izin dan kebijakan platform.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Pemilihan media penyimpanan bergantung pada jenis data, kebutuhan akses, dan privasi.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91640"/>
            <a:ext cx="4041648" cy="4617720"/>
          </a:xfrm>
          <a:prstGeom prst="roundRect">
            <a:avLst/>
          </a:prstGeom>
          <a:solidFill>
            <a:srgbClr val="0D3153"/>
          </a:solidFill>
          <a:ln>
            <a:solidFill>
              <a:srgbClr val="29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bile_crop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74519"/>
            <a:ext cx="3675887" cy="422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0">
                <a:solidFill>
                  <a:srgbClr val="B4CDE1"/>
                </a:solidFill>
                <a:latin typeface="Aptos"/>
              </a:defRPr>
            </a:pPr>
            <a:r>
              <a:t>PEMROGRAMAN MOBILE ANDROID DENGAN JAVA  •  RANGKUMAN BAB 1–6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100" b="1">
                <a:solidFill>
                  <a:srgbClr val="5FBEEB"/>
                </a:solidFill>
                <a:latin typeface="Aptos"/>
              </a:defRPr>
            </a:pPr>
            <a:r>
              <a:t>BAB 5 •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SQLite dan Content Provider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07008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4CDE1"/>
                </a:solidFill>
                <a:latin typeface="Aptos"/>
              </a:defRPr>
            </a:pPr>
            <a:r>
              <a:t>CRUD: Create, Read, Update, dan Delete data lokal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681228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01168"/>
          <a:lstStyle/>
          <a:p>
            <a:pPr algn="ctr"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SQLite merupakan database lokal yang tersedia pada Android untuk menyimpan data terstruktur.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SQLiteOpenHelper membantu pembuatan dan pengelolaan database melalui method seperti onCreate().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Tabel dibangun menggunakan perintah SQL, dengan kolom dan primary key sesuai kebutuhan.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Modul memberi contoh aplikasi biodata yang melakukan operasi CRUD menggunakan SQLite.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Content Provider menyediakan mekanisme berbagi data antar-aplikasi secara terstruktur.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91640"/>
            <a:ext cx="4041648" cy="4617720"/>
          </a:xfrm>
          <a:prstGeom prst="roundRect">
            <a:avLst/>
          </a:prstGeom>
          <a:solidFill>
            <a:srgbClr val="0D3153"/>
          </a:solidFill>
          <a:ln>
            <a:solidFill>
              <a:srgbClr val="29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32520" y="1965960"/>
            <a:ext cx="1874519" cy="3977639"/>
          </a:xfrm>
          <a:prstGeom prst="roundRect">
            <a:avLst/>
          </a:prstGeom>
          <a:solidFill>
            <a:srgbClr val="050C17"/>
          </a:solidFill>
          <a:ln>
            <a:solidFill>
              <a:srgbClr val="6E9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51392" y="2212848"/>
            <a:ext cx="1636776" cy="3493008"/>
          </a:xfrm>
          <a:prstGeom prst="roundRect">
            <a:avLst/>
          </a:prstGeom>
          <a:solidFill>
            <a:srgbClr val="E2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8552" y="2423160"/>
            <a:ext cx="137160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081C37"/>
                </a:solidFill>
                <a:latin typeface="Aptos"/>
              </a:defRPr>
            </a:pPr>
            <a:r>
              <a:t>ANDROID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3017520"/>
            <a:ext cx="1325880" cy="438912"/>
          </a:xfrm>
          <a:prstGeom prst="roundRect">
            <a:avLst/>
          </a:prstGeom>
          <a:solidFill>
            <a:srgbClr val="29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61704" y="3090672"/>
            <a:ext cx="118872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3675887"/>
            <a:ext cx="1325880" cy="438912"/>
          </a:xfrm>
          <a:prstGeom prst="roundRect">
            <a:avLst/>
          </a:prstGeom>
          <a:solidFill>
            <a:srgbClr val="29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1704" y="3749039"/>
            <a:ext cx="118872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4334256"/>
            <a:ext cx="1325880" cy="438912"/>
          </a:xfrm>
          <a:prstGeom prst="roundRect">
            <a:avLst/>
          </a:prstGeom>
          <a:solidFill>
            <a:srgbClr val="29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1704" y="4407408"/>
            <a:ext cx="118872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Aktivitas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0">
                <a:solidFill>
                  <a:srgbClr val="B4CDE1"/>
                </a:solidFill>
                <a:latin typeface="Aptos"/>
              </a:defRPr>
            </a:pPr>
            <a:r>
              <a:t>PEMROGRAMAN MOBILE ANDROID DENGAN JAVA  •  RANGKUMAN BAB 1–6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100" b="1">
                <a:solidFill>
                  <a:srgbClr val="5FBEEB"/>
                </a:solidFill>
                <a:latin typeface="Aptos"/>
              </a:defRPr>
            </a:pPr>
            <a:r>
              <a:t>BAB 6 • FIREBASE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Penyimpanan data eksternal berbasis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07008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4CDE1"/>
                </a:solidFill>
                <a:latin typeface="Aptos"/>
              </a:defRPr>
            </a:pPr>
            <a:r>
              <a:t>Firebase mendukung sinkronisasi data lintas perangkat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681228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01168"/>
          <a:lstStyle/>
          <a:p>
            <a:pPr algn="ctr"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Firebase adalah layanan yang membantu pengembangan aplikasi tanpa perlu menyiapkan infrastruktur server sendiri.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Firebase Realtime Database menyimpan dan menyinkronkan data secara real-time.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Modul mencontohkan penggunaan Firebase untuk aplikasi Android dan pengelolaan data agenda.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Integrasi dimulai dengan membuat project Firebase, mendaftarkan aplikasi Android, mengunduh google-services.json, dan menambahkan Firebase SDK.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Aplikasi mengakses database melalui FirebaseDatabase dan DatabaseReference.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91640"/>
            <a:ext cx="4041648" cy="4617720"/>
          </a:xfrm>
          <a:prstGeom prst="roundRect">
            <a:avLst/>
          </a:prstGeom>
          <a:solidFill>
            <a:srgbClr val="0D3153"/>
          </a:solidFill>
          <a:ln>
            <a:solidFill>
              <a:srgbClr val="29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32520" y="1965960"/>
            <a:ext cx="1874519" cy="3977639"/>
          </a:xfrm>
          <a:prstGeom prst="roundRect">
            <a:avLst/>
          </a:prstGeom>
          <a:solidFill>
            <a:srgbClr val="050C17"/>
          </a:solidFill>
          <a:ln>
            <a:solidFill>
              <a:srgbClr val="6E9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51392" y="2212848"/>
            <a:ext cx="1636776" cy="3493008"/>
          </a:xfrm>
          <a:prstGeom prst="roundRect">
            <a:avLst/>
          </a:prstGeom>
          <a:solidFill>
            <a:srgbClr val="E2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8552" y="2423160"/>
            <a:ext cx="137160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081C37"/>
                </a:solidFill>
                <a:latin typeface="Aptos"/>
              </a:defRPr>
            </a:pPr>
            <a:r>
              <a:t>ANDROID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3017520"/>
            <a:ext cx="1325880" cy="438912"/>
          </a:xfrm>
          <a:prstGeom prst="roundRect">
            <a:avLst/>
          </a:prstGeom>
          <a:solidFill>
            <a:srgbClr val="29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61704" y="3090672"/>
            <a:ext cx="118872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3675887"/>
            <a:ext cx="1325880" cy="438912"/>
          </a:xfrm>
          <a:prstGeom prst="roundRect">
            <a:avLst/>
          </a:prstGeom>
          <a:solidFill>
            <a:srgbClr val="29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1704" y="3749039"/>
            <a:ext cx="118872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4334256"/>
            <a:ext cx="1325880" cy="438912"/>
          </a:xfrm>
          <a:prstGeom prst="roundRect">
            <a:avLst/>
          </a:prstGeom>
          <a:solidFill>
            <a:srgbClr val="29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1704" y="4407408"/>
            <a:ext cx="118872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Aktivitas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0">
                <a:solidFill>
                  <a:srgbClr val="B4CDE1"/>
                </a:solidFill>
                <a:latin typeface="Aptos"/>
              </a:defRPr>
            </a:pPr>
            <a:r>
              <a:t>PEMROGRAMAN MOBILE ANDROID DENGAN JAVA  •  RANGKUMAN BAB 1–6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100" b="1">
                <a:solidFill>
                  <a:srgbClr val="5FBEEB"/>
                </a:solidFill>
                <a:latin typeface="Aptos"/>
              </a:defRPr>
            </a:pPr>
            <a:r>
              <a:t>BAB 6 • IMPLEMENTASI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CRUD agenda dengan Realtime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07008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4CDE1"/>
                </a:solidFill>
                <a:latin typeface="Aptos"/>
              </a:defRPr>
            </a:pPr>
            <a:r>
              <a:t>Studi kasus modul: aplikasi daftar agenda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681228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01168"/>
          <a:lstStyle/>
          <a:p>
            <a:pPr algn="ctr"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Create: buat objek Agenda, hasilkan key melalui push().getKey(), lalu simpan menggunakan setValue().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Read: ambil data dari database dan tampilkan daftar agenda pada ListView.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Update: tulis ulang nilai pada reference dengan setValue() untuk memperbarui agenda.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Delete: hapus data pada reference menggunakan removeValue().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Contoh ini menunjukkan alur data aplikasi dari input pengguna ke database cloud dan kembali ke tampilan.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91640"/>
            <a:ext cx="4041648" cy="4617720"/>
          </a:xfrm>
          <a:prstGeom prst="roundRect">
            <a:avLst/>
          </a:prstGeom>
          <a:solidFill>
            <a:srgbClr val="0D3153"/>
          </a:solidFill>
          <a:ln>
            <a:solidFill>
              <a:srgbClr val="29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32520" y="1965960"/>
            <a:ext cx="1874519" cy="3977639"/>
          </a:xfrm>
          <a:prstGeom prst="roundRect">
            <a:avLst/>
          </a:prstGeom>
          <a:solidFill>
            <a:srgbClr val="050C17"/>
          </a:solidFill>
          <a:ln>
            <a:solidFill>
              <a:srgbClr val="6E9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51392" y="2212848"/>
            <a:ext cx="1636776" cy="3493008"/>
          </a:xfrm>
          <a:prstGeom prst="roundRect">
            <a:avLst/>
          </a:prstGeom>
          <a:solidFill>
            <a:srgbClr val="E2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8552" y="2423160"/>
            <a:ext cx="137160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081C37"/>
                </a:solidFill>
                <a:latin typeface="Aptos"/>
              </a:defRPr>
            </a:pPr>
            <a:r>
              <a:t>ANDROID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3017520"/>
            <a:ext cx="1325880" cy="438912"/>
          </a:xfrm>
          <a:prstGeom prst="roundRect">
            <a:avLst/>
          </a:prstGeom>
          <a:solidFill>
            <a:srgbClr val="29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61704" y="3090672"/>
            <a:ext cx="118872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3675887"/>
            <a:ext cx="1325880" cy="438912"/>
          </a:xfrm>
          <a:prstGeom prst="roundRect">
            <a:avLst/>
          </a:prstGeom>
          <a:solidFill>
            <a:srgbClr val="29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1704" y="3749039"/>
            <a:ext cx="118872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4334256"/>
            <a:ext cx="1325880" cy="438912"/>
          </a:xfrm>
          <a:prstGeom prst="roundRect">
            <a:avLst/>
          </a:prstGeom>
          <a:solidFill>
            <a:srgbClr val="29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1704" y="4407408"/>
            <a:ext cx="118872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Aktivitas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0">
                <a:solidFill>
                  <a:srgbClr val="B4CDE1"/>
                </a:solidFill>
                <a:latin typeface="Aptos"/>
              </a:defRPr>
            </a:pPr>
            <a:r>
              <a:t>PEMROGRAMAN MOBILE ANDROID DENGAN JAVA  •  RANGKUMAN BAB 1–6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100" b="1">
                <a:solidFill>
                  <a:srgbClr val="5FBEEB"/>
                </a:solidFill>
                <a:latin typeface="Aptos"/>
              </a:defRPr>
            </a:pPr>
            <a:r>
              <a:t>RANGKUMAN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Keterkaitan materi Bab 1–6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07008"/>
            <a:ext cx="107899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1200" b="0">
                <a:solidFill>
                  <a:srgbClr val="B4CDE1"/>
                </a:solidFill>
                <a:latin typeface="Aptos"/>
              </a:defRPr>
            </a:pPr>
            <a:r>
              <a:t>Seluruh bab membentuk alur pengembangan aplikasi mobile yang utuh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6812280" cy="4617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201168"/>
          <a:lstStyle/>
          <a:p>
            <a:pPr algn="ctr"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Bab 1 memberi dasar platform, tools, dan struktur project Android.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Bab 2 mengatur komponen layar, navigasi, serta komunikasi antar-Activity.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Bab 3 membangun UI/UX dan penyajian data agar mudah digunakan.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Bab 4 mengelola pekerjaan terjadwal dan penyampaian notifikasi.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Bab 5 menyimpan data secara lokal melalui preferensi, file, dan SQLite.</a:t>
            </a:r>
          </a:p>
          <a:p>
            <a:pPr>
              <a:spcAft>
                <a:spcPts val="1600"/>
              </a:spcAft>
              <a:defRPr sz="1500">
                <a:solidFill>
                  <a:srgbClr val="192B3D"/>
                </a:solidFill>
                <a:latin typeface="Aptos"/>
              </a:defRPr>
            </a:pPr>
            <a:r>
              <a:t>•  Bab 6 memperluas penyimpanan ke cloud melalui Firebase Realtime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91640"/>
            <a:ext cx="4041648" cy="4617720"/>
          </a:xfrm>
          <a:prstGeom prst="roundRect">
            <a:avLst/>
          </a:prstGeom>
          <a:solidFill>
            <a:srgbClr val="0D3153"/>
          </a:solidFill>
          <a:ln>
            <a:solidFill>
              <a:srgbClr val="298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32520" y="1965960"/>
            <a:ext cx="1874519" cy="3977639"/>
          </a:xfrm>
          <a:prstGeom prst="roundRect">
            <a:avLst/>
          </a:prstGeom>
          <a:solidFill>
            <a:srgbClr val="050C17"/>
          </a:solidFill>
          <a:ln>
            <a:solidFill>
              <a:srgbClr val="6E96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51392" y="2212848"/>
            <a:ext cx="1636776" cy="3493008"/>
          </a:xfrm>
          <a:prstGeom prst="roundRect">
            <a:avLst/>
          </a:prstGeom>
          <a:solidFill>
            <a:srgbClr val="E2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8552" y="2423160"/>
            <a:ext cx="137160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081C37"/>
                </a:solidFill>
                <a:latin typeface="Aptos"/>
              </a:defRPr>
            </a:pPr>
            <a:r>
              <a:t>ANDROID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3017520"/>
            <a:ext cx="1325880" cy="438912"/>
          </a:xfrm>
          <a:prstGeom prst="roundRect">
            <a:avLst/>
          </a:prstGeom>
          <a:solidFill>
            <a:srgbClr val="29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61704" y="3090672"/>
            <a:ext cx="118872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3675887"/>
            <a:ext cx="1325880" cy="438912"/>
          </a:xfrm>
          <a:prstGeom prst="roundRect">
            <a:avLst/>
          </a:prstGeom>
          <a:solidFill>
            <a:srgbClr val="29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1704" y="3749039"/>
            <a:ext cx="118872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4334256"/>
            <a:ext cx="1325880" cy="438912"/>
          </a:xfrm>
          <a:prstGeom prst="roundRect">
            <a:avLst/>
          </a:prstGeom>
          <a:solidFill>
            <a:srgbClr val="298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1704" y="4407408"/>
            <a:ext cx="118872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Aktivitas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>
              <a:defRPr sz="800" b="0">
                <a:solidFill>
                  <a:srgbClr val="B4CDE1"/>
                </a:solidFill>
                <a:latin typeface="Aptos"/>
              </a:defRPr>
            </a:pPr>
            <a:r>
              <a:t>PEMROGRAMAN MOBILE ANDROID DENGAN JAVA  •  RANGKUMAN BAB 1–6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7315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600" b="1">
                <a:solidFill>
                  <a:srgbClr val="5FBEEB"/>
                </a:solidFill>
                <a:latin typeface="Aptos"/>
              </a:defRPr>
            </a:pPr>
            <a: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1371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Aplikasi Android dibangun melalui kombinasi\nkomponen, antarmuka, proses latar, dan pengelolaan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977639"/>
            <a:ext cx="9784080" cy="6400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2800" b="1">
                <a:solidFill>
                  <a:srgbClr val="5FBEEB"/>
                </a:solidFill>
                <a:latin typeface="Aptos"/>
              </a:defRPr>
            </a:pPr>
            <a:r>
              <a:t>Terima kasih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800600"/>
            <a:ext cx="9784080" cy="7315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1200" b="0">
                <a:solidFill>
                  <a:srgbClr val="B4CDE1"/>
                </a:solidFill>
                <a:latin typeface="Aptos"/>
              </a:defRPr>
            </a:pPr>
            <a:r>
              <a:t>Sumber utama: Erma Susanti, Pemrograman Mobile Android dengan Java, Modul 1–6 (2020).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2286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>
              <a:defRPr sz="900" b="1">
                <a:solidFill>
                  <a:srgbClr val="B4CDE1"/>
                </a:solidFill>
                <a:latin typeface="Aptos"/>
              </a:defRPr>
            </a:pPr>
            <a:r>
              <a:t>DIVAMOBILE  •  SISTEM INFORMASI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